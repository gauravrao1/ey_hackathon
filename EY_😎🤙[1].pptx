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4" autoAdjust="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427E6-092E-4588-8F73-784D5999CDF8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26F4C-4684-4536-B9BA-EA87C367A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66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A42368-F906-4F63-BAC7-BD4FB81998D7}"/>
              </a:ext>
            </a:extLst>
          </p:cNvPr>
          <p:cNvSpPr txBox="1"/>
          <p:nvPr userDrawn="1"/>
        </p:nvSpPr>
        <p:spPr>
          <a:xfrm>
            <a:off x="896646" y="177550"/>
            <a:ext cx="10599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D7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MediCorrect</a:t>
            </a:r>
            <a:r>
              <a:rPr lang="en-US" sz="2800" b="1" dirty="0">
                <a:solidFill>
                  <a:srgbClr val="FFD7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AI </a:t>
            </a:r>
            <a:r>
              <a:rPr lang="en-US" sz="2400" b="1" dirty="0">
                <a:solidFill>
                  <a:srgbClr val="FFD7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— Ensuring Accuracy in Healthcare Provider Data</a:t>
            </a:r>
          </a:p>
          <a:p>
            <a:endParaRPr lang="en-IN" sz="2000" b="1" dirty="0">
              <a:solidFill>
                <a:srgbClr val="FFD7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7BF727-2C1E-46B5-9702-50C286D5020C}"/>
              </a:ext>
            </a:extLst>
          </p:cNvPr>
          <p:cNvSpPr txBox="1"/>
          <p:nvPr userDrawn="1"/>
        </p:nvSpPr>
        <p:spPr>
          <a:xfrm>
            <a:off x="337351" y="843375"/>
            <a:ext cx="1145219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Problem Statement: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Healthcare provider databases are filled with incomplete, inconsistent, or invalid records — such as wrong phone numbers, incorrect addresses, or missing credentials — leading to claim delays, compliance issues, and patient misdirection.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D21F50-56FF-4C17-BD75-02BF414A7299}"/>
              </a:ext>
            </a:extLst>
          </p:cNvPr>
          <p:cNvSpPr txBox="1"/>
          <p:nvPr userDrawn="1"/>
        </p:nvSpPr>
        <p:spPr>
          <a:xfrm>
            <a:off x="337351" y="2059605"/>
            <a:ext cx="1081300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Our Solution: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 AI agent that automatically cleans, validates, and corrects healthcare provider data — integrating Google Maps APIs for real-time address verification and geolocation validation.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Presented by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Team </a:t>
            </a:r>
            <a:r>
              <a:rPr lang="en-US" b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DataPulse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Shri </a:t>
            </a:r>
            <a:r>
              <a:rPr 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Ramswaroop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Memorial University                                                                            </a:t>
            </a:r>
            <a:r>
              <a:rPr lang="en-IN" i="1" dirty="0">
                <a:solidFill>
                  <a:schemeClr val="bg1"/>
                </a:solidFill>
              </a:rPr>
              <a:t>“Clean Data. Clear Care.”</a:t>
            </a:r>
          </a:p>
          <a:p>
            <a:endParaRPr lang="en-IN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A985B7-E19E-4AB2-91FF-9082FBDCCA68}"/>
              </a:ext>
            </a:extLst>
          </p:cNvPr>
          <p:cNvSpPr/>
          <p:nvPr userDrawn="1"/>
        </p:nvSpPr>
        <p:spPr>
          <a:xfrm>
            <a:off x="443884" y="3950564"/>
            <a:ext cx="3968318" cy="271656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42C00B-A1F1-41F5-86FF-A794804FF567}"/>
              </a:ext>
            </a:extLst>
          </p:cNvPr>
          <p:cNvSpPr/>
          <p:nvPr userDrawn="1"/>
        </p:nvSpPr>
        <p:spPr>
          <a:xfrm>
            <a:off x="6995604" y="3950563"/>
            <a:ext cx="4225772" cy="271656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9359BA33-8200-414D-A020-A78D094134E3}"/>
              </a:ext>
            </a:extLst>
          </p:cNvPr>
          <p:cNvCxnSpPr>
            <a:cxnSpLocks/>
          </p:cNvCxnSpPr>
          <p:nvPr userDrawn="1"/>
        </p:nvCxnSpPr>
        <p:spPr>
          <a:xfrm>
            <a:off x="4678532" y="5157926"/>
            <a:ext cx="2139518" cy="63919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26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3140-DBF6-4C16-971A-B20DA551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388CF-ADDF-4C6D-AB75-264FE03D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94AE0-593D-4A26-BD45-76374F28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256E4-6AD6-47FA-B43B-9FED94C7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15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33D1-4D7A-4937-B99E-23616C43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4615B-D5BA-4559-9D8C-FED6D0174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E543B-A4BD-447A-921C-46123FCE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80337-6F66-41AF-BE47-C86A86B80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BE0F3-6C79-4E01-8F67-E22C11C6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1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882F-AE3C-456B-8145-1830EF575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5BCEB-435A-4BC0-A4F9-E3B9129D7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7B83A-9532-4D67-9263-57665673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4D9D9-DFCE-4885-8595-F1DB18B8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F9437-8482-4304-868F-A0383FFB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109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2A7E-DC11-4696-92EB-58AC2372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27DF7-13E0-4925-BD64-122A3C229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2123B-0EBE-41BB-89A6-0C2DB7C0D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AA30C-72D0-40C7-ACF7-19C4922A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7D5A1-C626-4A13-8F79-4AB4BE7C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66077-E26D-47EE-9203-A13CAFD7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7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78ED-7104-482E-8A14-07CF1E6B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94E03-F538-4EC5-87AF-434CEFA8C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3D39C-CCCD-48A3-B67C-B67A5836A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1ECDB-B915-4899-B379-5BAFFE486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BC610-BC51-48FD-A5F8-20A809180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0FFBFD-2306-449C-BB45-FBFB73DC7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67532-A12E-411F-A056-1C57F780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94F4D-ED6A-48C5-B9B9-C38EE595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3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8D1B4-0399-4635-B365-90799EDA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88DF2-2186-4BE5-9213-E9CB0052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B4F4C-E34F-4808-9C57-06AAA439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C90DE-953C-4DDD-B413-3179322F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53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5E7984-61FB-4215-B8BB-1CF569F1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965E7-2BC8-4334-A03F-2A1878AAB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908CB-0782-4755-9F5E-C8C2D4C9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44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8A35-826B-493C-86F1-2DC560B3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C8793-10CC-4989-98F0-5BDB5DC82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E9E0F-3BBD-40B3-BC58-C0A264F04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A5ECB-1352-4B1A-99E7-F041B8D3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D2A38-D421-470E-A064-0EB92D91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DFB54-DDC9-4F60-851C-BCF1D1E0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07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C6EF-D709-4A6C-B630-9B82ABBEB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81F2D-3749-4BD4-9426-4C673EED07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7CAFD-E5EE-4E3A-9DD0-E21C9C2F6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131F3-634B-4B79-97AB-AFDE285C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95F3C-B229-44A9-8931-666FBAD3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C796B-224B-48C5-AFC1-97D0DCBE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40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7E69-9D35-46F7-BAEA-BA6E85AA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B243A-8FBD-44FF-AA0E-6EF074259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35948-48E3-455A-A86C-B4504B2CA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8176D-6014-48A2-B6F0-717AB0F8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4BC15-57D8-455D-A72C-94F13FE3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610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22892-8D59-4C59-975A-86E242278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B521C-B12D-4AA2-9EF0-78B5E1834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FF731-93A6-4F85-9B8B-9F8AE9761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E1AF0-2C36-4B5B-90E9-2A07CD02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33731-0738-4832-A2CA-18AD27F7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91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76B5F-195B-46F0-846C-B79CD574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C2B2A-9A30-4A53-9D55-A9BF75D14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90FCC-A17E-4453-8F8C-394A46749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A8943-E396-459F-9892-96228AB078C1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1361D-7D86-48D8-A601-1C4D26CF8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ED56B-46E6-4B2C-8620-635BBDFD5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E33E9-7E5A-405C-AC9F-5107E4CE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46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692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48B7C6-1D68-4A14-AAB5-1B22DB3514AC}"/>
              </a:ext>
            </a:extLst>
          </p:cNvPr>
          <p:cNvSpPr/>
          <p:nvPr/>
        </p:nvSpPr>
        <p:spPr>
          <a:xfrm>
            <a:off x="0" y="0"/>
            <a:ext cx="12192000" cy="564776"/>
          </a:xfrm>
          <a:prstGeom prst="rect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1FA5A9-A217-4673-9FA4-CAFBEDB86E05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                                  </a:t>
            </a:r>
            <a:r>
              <a:rPr lang="en-US" sz="3000" dirty="0">
                <a:solidFill>
                  <a:srgbClr val="FFD700"/>
                </a:solidFill>
              </a:rPr>
              <a:t>Why Provider Data Validation Matters</a:t>
            </a:r>
            <a:endParaRPr lang="en-IN" sz="3000" dirty="0">
              <a:solidFill>
                <a:srgbClr val="FFD7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D4EDB-CDD9-49C7-949E-B18BBFC21F32}"/>
              </a:ext>
            </a:extLst>
          </p:cNvPr>
          <p:cNvSpPr txBox="1"/>
          <p:nvPr/>
        </p:nvSpPr>
        <p:spPr>
          <a:xfrm>
            <a:off x="0" y="690282"/>
            <a:ext cx="1219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Healthcare provider data often contains missing, incomplete, or invalid information such as wrong phone numbers, incorrect addresses, and duplicate entries.</a:t>
            </a:r>
          </a:p>
          <a:p>
            <a:r>
              <a:rPr lang="en-US" dirty="0"/>
              <a:t>Manual validation of such data is time-consuming, error-prone, and expensive — often taking several days for thousands of records.</a:t>
            </a:r>
          </a:p>
          <a:p>
            <a:r>
              <a:rPr lang="en-US" dirty="0"/>
              <a:t>Our analysis on the sample healthcare dataset revealed:</a:t>
            </a:r>
            <a:br>
              <a:rPr lang="en-US" dirty="0"/>
            </a:br>
            <a:r>
              <a:rPr lang="en-US" dirty="0"/>
              <a:t>• Missing phone numbers and inconsistent email formats</a:t>
            </a:r>
            <a:br>
              <a:rPr lang="en-US" dirty="0"/>
            </a:br>
            <a:r>
              <a:rPr lang="en-US" dirty="0"/>
              <a:t>• Invalid or mismatched addresses</a:t>
            </a:r>
            <a:br>
              <a:rPr lang="en-US" dirty="0"/>
            </a:br>
            <a:r>
              <a:rPr lang="en-US" dirty="0"/>
              <a:t>• Redundant or incomplete provider details</a:t>
            </a:r>
          </a:p>
          <a:p>
            <a:r>
              <a:rPr lang="en-US" dirty="0"/>
              <a:t>Automating this process can improve data accuracy by </a:t>
            </a:r>
            <a:r>
              <a:rPr lang="en-US" b="1" dirty="0"/>
              <a:t>40–60%</a:t>
            </a:r>
            <a:r>
              <a:rPr lang="en-US" dirty="0"/>
              <a:t>, reduce manual effort by </a:t>
            </a:r>
            <a:r>
              <a:rPr lang="en-US" b="1" dirty="0"/>
              <a:t>80%</a:t>
            </a:r>
            <a:r>
              <a:rPr lang="en-US" dirty="0"/>
              <a:t>, and ensure compliance with healthcare data quality standards.</a:t>
            </a:r>
          </a:p>
          <a:p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9466DD-41FE-4CD7-B64B-7CAE4562CF44}"/>
              </a:ext>
            </a:extLst>
          </p:cNvPr>
          <p:cNvSpPr txBox="1"/>
          <p:nvPr/>
        </p:nvSpPr>
        <p:spPr>
          <a:xfrm>
            <a:off x="6768353" y="6544235"/>
            <a:ext cx="504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039609-2A3D-40D2-ADB8-7D8C2C0A9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69" y="3621741"/>
            <a:ext cx="5018132" cy="29224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2A1A11-CDCB-4F62-8D7A-9F5003BD3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828" y="3338688"/>
            <a:ext cx="6644971" cy="31393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DE4276-530E-4481-9CE9-6FC6B5C8A62C}"/>
              </a:ext>
            </a:extLst>
          </p:cNvPr>
          <p:cNvSpPr txBox="1"/>
          <p:nvPr/>
        </p:nvSpPr>
        <p:spPr>
          <a:xfrm>
            <a:off x="726141" y="6544235"/>
            <a:ext cx="36934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3399"/>
                </a:solidFill>
              </a:rPr>
              <a:t>                     RAW PROVIDER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0B0899-A0FD-4B89-9530-F1056841FDFD}"/>
              </a:ext>
            </a:extLst>
          </p:cNvPr>
          <p:cNvSpPr txBox="1"/>
          <p:nvPr/>
        </p:nvSpPr>
        <p:spPr>
          <a:xfrm>
            <a:off x="6087036" y="6562166"/>
            <a:ext cx="548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3399"/>
                </a:solidFill>
              </a:rPr>
              <a:t>                                        CLEANED PROVIDER DATA</a:t>
            </a:r>
          </a:p>
        </p:txBody>
      </p:sp>
    </p:spTree>
    <p:extLst>
      <p:ext uri="{BB962C8B-B14F-4D97-AF65-F5344CB8AC3E}">
        <p14:creationId xmlns:p14="http://schemas.microsoft.com/office/powerpoint/2010/main" val="377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1DBB9E-24FC-4C60-9F14-24BB5CDF1D4B}"/>
              </a:ext>
            </a:extLst>
          </p:cNvPr>
          <p:cNvSpPr/>
          <p:nvPr/>
        </p:nvSpPr>
        <p:spPr>
          <a:xfrm>
            <a:off x="0" y="0"/>
            <a:ext cx="12192000" cy="707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F9FF3-C373-4184-9B56-0FC8C234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69677"/>
            <a:ext cx="10515600" cy="443061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FFD700"/>
                </a:solidFill>
              </a:rPr>
              <a:t>      </a:t>
            </a:r>
            <a:r>
              <a:rPr lang="en-US" sz="3200" b="1" dirty="0">
                <a:solidFill>
                  <a:srgbClr val="FFD700"/>
                </a:solidFill>
              </a:rPr>
              <a:t>Solution Workflow: Automated Data Cleaning and Validation</a:t>
            </a:r>
            <a:endParaRPr lang="en-IN" sz="3200" b="1" dirty="0">
              <a:solidFill>
                <a:srgbClr val="FFD7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868D0-4711-4D77-A03B-B289B9760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6437"/>
            <a:ext cx="12192000" cy="5307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8949C-94E1-4735-AF9D-04E678FDDEDD}"/>
              </a:ext>
            </a:extLst>
          </p:cNvPr>
          <p:cNvSpPr txBox="1"/>
          <p:nvPr/>
        </p:nvSpPr>
        <p:spPr>
          <a:xfrm>
            <a:off x="0" y="60802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flow begins with raw provider data upload, followed by automatic cleaning and validation by specialized AI agents.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Each correction is logged for transparency, and the final validated data is exported for integration into healthcare systems.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04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A24125-3725-4539-B254-7ECF337198E0}"/>
              </a:ext>
            </a:extLst>
          </p:cNvPr>
          <p:cNvSpPr/>
          <p:nvPr/>
        </p:nvSpPr>
        <p:spPr>
          <a:xfrm>
            <a:off x="0" y="0"/>
            <a:ext cx="12192000" cy="575034"/>
          </a:xfrm>
          <a:prstGeom prst="rect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748C7-539F-4E3E-A037-8B0891E5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112" y="82320"/>
            <a:ext cx="10515600" cy="492714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                             </a:t>
            </a:r>
            <a:r>
              <a:rPr lang="en-IN" sz="3200" b="1" dirty="0">
                <a:solidFill>
                  <a:srgbClr val="FFD700"/>
                </a:solidFill>
              </a:rPr>
              <a:t>How </a:t>
            </a:r>
            <a:r>
              <a:rPr lang="en-IN" sz="3200" b="1" dirty="0" err="1">
                <a:solidFill>
                  <a:srgbClr val="FFD700"/>
                </a:solidFill>
              </a:rPr>
              <a:t>MediCorrect</a:t>
            </a:r>
            <a:r>
              <a:rPr lang="en-IN" sz="3200" b="1" dirty="0">
                <a:solidFill>
                  <a:srgbClr val="FFD700"/>
                </a:solidFill>
              </a:rPr>
              <a:t> AI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E932F-BDA2-4889-9066-65B542DAF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22170"/>
            <a:ext cx="7120647" cy="351208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en-IN" sz="2600" b="1" dirty="0"/>
              <a:t>Core Workflow:</a:t>
            </a:r>
            <a:br>
              <a:rPr lang="en-IN" sz="2600" dirty="0"/>
            </a:br>
            <a:r>
              <a:rPr lang="en-IN" sz="2600" dirty="0"/>
              <a:t>1️⃣   </a:t>
            </a:r>
            <a:r>
              <a:rPr lang="en-IN" sz="2600" b="1" dirty="0"/>
              <a:t>Upload Records:</a:t>
            </a:r>
            <a:r>
              <a:rPr lang="en-IN" sz="2600" dirty="0"/>
              <a:t> User uploads provider data (CSV/Excel)</a:t>
            </a:r>
            <a:br>
              <a:rPr lang="en-IN" sz="2600" dirty="0"/>
            </a:br>
            <a:r>
              <a:rPr lang="en-IN" sz="2600" dirty="0"/>
              <a:t>2️⃣   </a:t>
            </a:r>
            <a:r>
              <a:rPr lang="en-IN" sz="2600" b="1" dirty="0"/>
              <a:t>AI Cleaning:</a:t>
            </a:r>
            <a:r>
              <a:rPr lang="en-IN" sz="2600" dirty="0"/>
              <a:t> Automatic normalization and formatting</a:t>
            </a:r>
            <a:br>
              <a:rPr lang="en-IN" sz="2600" dirty="0"/>
            </a:br>
            <a:r>
              <a:rPr lang="en-IN" sz="2600" dirty="0"/>
              <a:t>3️⃣   </a:t>
            </a:r>
            <a:r>
              <a:rPr lang="en-IN" sz="2600" b="1" dirty="0"/>
              <a:t>Validation Agents:</a:t>
            </a:r>
            <a:br>
              <a:rPr lang="en-IN" sz="2600" dirty="0"/>
            </a:br>
            <a:r>
              <a:rPr lang="en-IN" sz="2600" dirty="0"/>
              <a:t>  • </a:t>
            </a:r>
            <a:r>
              <a:rPr lang="en-IN" sz="2600" b="1" dirty="0"/>
              <a:t>Phone:</a:t>
            </a:r>
            <a:r>
              <a:rPr lang="en-IN" sz="2600" dirty="0"/>
              <a:t> Validates number format &amp; reachability</a:t>
            </a:r>
            <a:br>
              <a:rPr lang="en-IN" sz="2600" dirty="0"/>
            </a:br>
            <a:r>
              <a:rPr lang="en-IN" sz="2600" dirty="0"/>
              <a:t>  • </a:t>
            </a:r>
            <a:r>
              <a:rPr lang="en-IN" sz="2600" b="1" dirty="0"/>
              <a:t>Email:</a:t>
            </a:r>
            <a:r>
              <a:rPr lang="en-IN" sz="2600" dirty="0"/>
              <a:t> Verifies syntax &amp; domain activity</a:t>
            </a:r>
            <a:br>
              <a:rPr lang="en-IN" sz="2600" dirty="0"/>
            </a:br>
            <a:r>
              <a:rPr lang="en-IN" sz="2600" dirty="0"/>
              <a:t>  • </a:t>
            </a:r>
            <a:r>
              <a:rPr lang="en-IN" sz="2600" b="1" dirty="0"/>
              <a:t>Address:</a:t>
            </a:r>
            <a:r>
              <a:rPr lang="en-IN" sz="2600" dirty="0"/>
              <a:t> Confirms existence via Google Maps API</a:t>
            </a:r>
            <a:br>
              <a:rPr lang="en-IN" sz="2600" dirty="0"/>
            </a:br>
            <a:r>
              <a:rPr lang="en-IN" sz="2600" dirty="0"/>
              <a:t>4️⃣   </a:t>
            </a:r>
            <a:r>
              <a:rPr lang="en-IN" sz="2600" b="1" dirty="0"/>
              <a:t>Quality Check:</a:t>
            </a:r>
            <a:r>
              <a:rPr lang="en-IN" sz="2600" dirty="0"/>
              <a:t> Flags doubtful or incomplete records</a:t>
            </a:r>
            <a:br>
              <a:rPr lang="en-IN" sz="2600" dirty="0"/>
            </a:br>
            <a:r>
              <a:rPr lang="en-IN" sz="2600" dirty="0"/>
              <a:t>5️⃣   </a:t>
            </a:r>
            <a:r>
              <a:rPr lang="en-IN" sz="2600" b="1" dirty="0"/>
              <a:t>Audit Trail:</a:t>
            </a:r>
            <a:r>
              <a:rPr lang="en-IN" sz="2600" dirty="0"/>
              <a:t> Logs all corrections and decisions for transparency</a:t>
            </a:r>
          </a:p>
          <a:p>
            <a:pPr>
              <a:lnSpc>
                <a:spcPct val="110000"/>
              </a:lnSpc>
            </a:pPr>
            <a:r>
              <a:rPr lang="en-IN" sz="2600" b="1" dirty="0"/>
              <a:t>Tech Stack</a:t>
            </a:r>
            <a:r>
              <a:rPr lang="en-IN" sz="2600" b="1"/>
              <a:t>:</a:t>
            </a:r>
            <a:r>
              <a:rPr lang="en-IN" sz="2600"/>
              <a:t>                                                                                                                                                                                                          Python </a:t>
            </a:r>
            <a:r>
              <a:rPr lang="en-IN" sz="2600" dirty="0"/>
              <a:t>| Flask | Pandas | </a:t>
            </a:r>
            <a:r>
              <a:rPr lang="en-IN" sz="2600"/>
              <a:t>MySQL                                                                                                                                          React </a:t>
            </a:r>
            <a:r>
              <a:rPr lang="en-IN" sz="2600" dirty="0"/>
              <a:t>| HTML </a:t>
            </a:r>
            <a:r>
              <a:rPr lang="en-IN" sz="2600"/>
              <a:t>| Tailwind CSS | </a:t>
            </a:r>
            <a:r>
              <a:rPr lang="en-IN" sz="2600" dirty="0"/>
              <a:t>Google maps API</a:t>
            </a:r>
          </a:p>
          <a:p>
            <a:pPr>
              <a:lnSpc>
                <a:spcPct val="110000"/>
              </a:lnSpc>
            </a:pPr>
            <a:endParaRPr lang="en-IN" sz="2200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1A66DA-0A88-4C6C-9DF3-296B7CC31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181" y="622170"/>
            <a:ext cx="4289700" cy="336577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30000-AFDF-4870-B952-97EE0809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85" y="4129446"/>
            <a:ext cx="5816338" cy="2657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80F123-72D1-4B65-8C43-4837FD067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335" y="4068267"/>
            <a:ext cx="5602665" cy="272374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3FF183-9A59-447C-A0FB-17BF7130D1D1}"/>
              </a:ext>
            </a:extLst>
          </p:cNvPr>
          <p:cNvSpPr txBox="1"/>
          <p:nvPr/>
        </p:nvSpPr>
        <p:spPr>
          <a:xfrm>
            <a:off x="10727703" y="3384219"/>
            <a:ext cx="1136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D700"/>
                </a:highlight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18AF8-FC7D-4D62-99CC-5B9CE27B11A0}"/>
              </a:ext>
            </a:extLst>
          </p:cNvPr>
          <p:cNvSpPr txBox="1"/>
          <p:nvPr/>
        </p:nvSpPr>
        <p:spPr>
          <a:xfrm>
            <a:off x="2177592" y="6400800"/>
            <a:ext cx="10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D700"/>
                </a:highlight>
              </a:rPr>
              <a:t>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A4951-0675-439E-9F50-56AE2637E87A}"/>
              </a:ext>
            </a:extLst>
          </p:cNvPr>
          <p:cNvSpPr txBox="1"/>
          <p:nvPr/>
        </p:nvSpPr>
        <p:spPr>
          <a:xfrm>
            <a:off x="10331776" y="6330100"/>
            <a:ext cx="1065229" cy="381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D700"/>
                </a:highlight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0534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2F82-6294-47BB-A0A9-209E56A3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81" y="1"/>
            <a:ext cx="10515600" cy="1121790"/>
          </a:xfrm>
        </p:spPr>
        <p:txBody>
          <a:bodyPr>
            <a:normAutofit/>
          </a:bodyPr>
          <a:lstStyle/>
          <a:p>
            <a:r>
              <a:rPr lang="en-IN" sz="3600" dirty="0"/>
              <a:t>   Potential Benefits 💡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B34876-E33C-476C-BD52-2F48FF4B7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359097"/>
              </p:ext>
            </p:extLst>
          </p:nvPr>
        </p:nvGraphicFramePr>
        <p:xfrm>
          <a:off x="1018095" y="4373499"/>
          <a:ext cx="8248452" cy="2357235"/>
        </p:xfrm>
        <a:graphic>
          <a:graphicData uri="http://schemas.openxmlformats.org/drawingml/2006/table">
            <a:tbl>
              <a:tblPr/>
              <a:tblGrid>
                <a:gridCol w="2554664">
                  <a:extLst>
                    <a:ext uri="{9D8B030D-6E8A-4147-A177-3AD203B41FA5}">
                      <a16:colId xmlns:a16="http://schemas.microsoft.com/office/drawing/2014/main" val="2453636927"/>
                    </a:ext>
                  </a:extLst>
                </a:gridCol>
                <a:gridCol w="2846894">
                  <a:extLst>
                    <a:ext uri="{9D8B030D-6E8A-4147-A177-3AD203B41FA5}">
                      <a16:colId xmlns:a16="http://schemas.microsoft.com/office/drawing/2014/main" val="3154402113"/>
                    </a:ext>
                  </a:extLst>
                </a:gridCol>
                <a:gridCol w="2846894">
                  <a:extLst>
                    <a:ext uri="{9D8B030D-6E8A-4147-A177-3AD203B41FA5}">
                      <a16:colId xmlns:a16="http://schemas.microsoft.com/office/drawing/2014/main" val="1177998316"/>
                    </a:ext>
                  </a:extLst>
                </a:gridCol>
              </a:tblGrid>
              <a:tr h="377157">
                <a:tc>
                  <a:txBody>
                    <a:bodyPr/>
                    <a:lstStyle/>
                    <a:p>
                      <a:r>
                        <a:rPr lang="en-IN" u="sng" dirty="0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u="sng" dirty="0"/>
                        <a:t>Duration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u="sng" dirty="0"/>
                        <a:t>Objective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557738"/>
                  </a:ext>
                </a:extLst>
              </a:tr>
              <a:tr h="660026">
                <a:tc>
                  <a:txBody>
                    <a:bodyPr/>
                    <a:lstStyle/>
                    <a:p>
                      <a:r>
                        <a:rPr lang="en-IN" dirty="0"/>
                        <a:t>Phase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1–2 months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Improve model accuracy &amp; add UI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028097"/>
                  </a:ext>
                </a:extLst>
              </a:tr>
              <a:tr h="660026">
                <a:tc>
                  <a:txBody>
                    <a:bodyPr/>
                    <a:lstStyle/>
                    <a:p>
                      <a:r>
                        <a:rPr lang="en-IN"/>
                        <a:t>Phase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3–5 months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Pilot with local hospitals &amp; health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39483"/>
                  </a:ext>
                </a:extLst>
              </a:tr>
              <a:tr h="660026">
                <a:tc>
                  <a:txBody>
                    <a:bodyPr/>
                    <a:lstStyle/>
                    <a:p>
                      <a:r>
                        <a:rPr lang="en-IN"/>
                        <a:t>Phase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6+ months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Nationwide roll-out with regulatory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702844"/>
                  </a:ext>
                </a:extLst>
              </a:tr>
            </a:tbl>
          </a:graphicData>
        </a:graphic>
      </p:graphicFrame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4E617813-6D8E-4D3D-8CDE-5E8AC1DD0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255483"/>
              </p:ext>
            </p:extLst>
          </p:nvPr>
        </p:nvGraphicFramePr>
        <p:xfrm>
          <a:off x="47130" y="499623"/>
          <a:ext cx="7315200" cy="337425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29960389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19141535"/>
                    </a:ext>
                  </a:extLst>
                </a:gridCol>
              </a:tblGrid>
              <a:tr h="398775"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81595"/>
                  </a:ext>
                </a:extLst>
              </a:tr>
              <a:tr h="674851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Make healthcare directories more accurate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Build trust</a:t>
                      </a: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between patient, doctors because data is reliable.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000493"/>
                  </a:ext>
                </a:extLst>
              </a:tr>
              <a:tr h="674851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Reduce manual work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Create a stronger base for future technology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1258"/>
                  </a:ext>
                </a:extLst>
              </a:tr>
              <a:tr h="674851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Saves money</a:t>
                      </a: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by lowering wrong claims, waste.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Enhance patient satisfaction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305080"/>
                  </a:ext>
                </a:extLst>
              </a:tr>
              <a:tr h="950926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Supports better management of provider networks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Improve coordination and communication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across healthcare providers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84810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3BFD87B-B33D-43E2-B9CB-2F065087FA72}"/>
              </a:ext>
            </a:extLst>
          </p:cNvPr>
          <p:cNvSpPr txBox="1"/>
          <p:nvPr/>
        </p:nvSpPr>
        <p:spPr>
          <a:xfrm>
            <a:off x="226242" y="3939861"/>
            <a:ext cx="2545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Future Roadmap:</a:t>
            </a:r>
            <a:r>
              <a:rPr lang="en-IN" sz="2400" dirty="0"/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8C23BB-6BE6-4C6F-A3A0-49D42DB96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468" y="889549"/>
            <a:ext cx="4596114" cy="27303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26" name="Picture 2" descr="Ernst &amp; Young Hosting EY Techathon 6.0 ...">
            <a:extLst>
              <a:ext uri="{FF2B5EF4-FFF2-40B4-BE49-F238E27FC236}">
                <a16:creationId xmlns:a16="http://schemas.microsoft.com/office/drawing/2014/main" id="{4825B36D-D8B4-4F1F-9E82-A85A2F997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3736" y="5580667"/>
            <a:ext cx="893579" cy="89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4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372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Cambria Math</vt:lpstr>
      <vt:lpstr>Google Sans Text</vt:lpstr>
      <vt:lpstr>Office Theme</vt:lpstr>
      <vt:lpstr>PowerPoint Presentation</vt:lpstr>
      <vt:lpstr>PowerPoint Presentation</vt:lpstr>
      <vt:lpstr>      Solution Workflow: Automated Data Cleaning and Validation</vt:lpstr>
      <vt:lpstr>                             How MediCorrect AI Works</vt:lpstr>
      <vt:lpstr>   Potential Benefits 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basically.ayush99@gmail.com</dc:creator>
  <cp:lastModifiedBy>Gaurav Rao</cp:lastModifiedBy>
  <cp:revision>29</cp:revision>
  <dcterms:created xsi:type="dcterms:W3CDTF">2025-10-17T15:13:21Z</dcterms:created>
  <dcterms:modified xsi:type="dcterms:W3CDTF">2025-10-22T14:32:33Z</dcterms:modified>
</cp:coreProperties>
</file>